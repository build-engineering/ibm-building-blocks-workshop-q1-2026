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65" r:id="rId3"/>
    <p:sldId id="26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58"/>
  </p:normalViewPr>
  <p:slideViewPr>
    <p:cSldViewPr snapToGrid="0">
      <p:cViewPr varScale="1">
        <p:scale>
          <a:sx n="116" d="100"/>
          <a:sy n="116" d="100"/>
        </p:scale>
        <p:origin x="4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D5E3B-3F26-DB92-55A5-3782406A6D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911755-2E0B-76E8-9223-0F3FBA0981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2FF11-AC00-F422-BDA4-824EE78F2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72480-0F4E-2393-269B-F87102C1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41EED-97D5-B43C-7590-F67B60120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467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FE08E-AEEB-42A2-2153-A6E479573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5CF42-321E-3BA1-36E0-0E2C6786C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989F5-08B4-7AF0-4CF5-98CAFF2C7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31374-077A-D0BA-5366-BACF23F20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4A4EB-0C49-C6C0-07E7-D654E9514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665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98C25-C08E-71A5-1E80-881747B82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F81B0B-58B1-2348-3CE2-7CC026E6D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D31EE-01AE-246C-DB81-5ACE96EFA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A324E-D85D-65C5-F99A-024DE095E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6E5C3-0069-2D1D-E3BA-C6E72CFD6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69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9DC6B-10F9-4989-67A4-DC6296952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DADF3-BC20-0D85-6C1E-DE6A162B1B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609E10-E717-0016-8EE9-D99EA7187A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5BD997-8450-AB63-1DCF-F7D97EF09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910618-6F15-D4B9-216C-1D50D716B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BC6A7-83DF-CB80-18F4-AA6EDCD1D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46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219A9-9E3A-4996-EAF8-ADED1E60C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99E23D-06F3-14C0-8AA7-7D1AD1670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C36850-1A36-C32F-EDF7-3AF4C6C2C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9BECF4-5E2E-B0CF-3CBA-01BDF656A9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4EAEB2-F114-C606-3978-D91C2E5BFB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98D59B-B64B-70D3-1597-683F9FDE1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10B763-E599-71B0-3C50-FA0FA37E2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2FA9AF-4E41-04DC-8DA7-8E14270A0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636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5F05C-B1AD-3462-F53C-74D24C3A2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AD9B4F-2372-D7C8-F2BB-BCAA14C92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016B90-9D2D-FCDE-2FF8-099D93B76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F91514-26A7-49CE-7C56-78B311D7E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576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F80ED8-E96A-5409-B0B6-E2BB4A7B9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F0A7E5-6A14-EBF0-7D4D-B20737708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43746-87D4-59E6-D94C-1CBD60106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499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ED21C-3A00-6912-E469-57969448A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1C490-F1B8-3191-E298-F9DAF680F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869FCA-BFA8-D6F0-E7C7-CEE811A80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3D3EEC-645E-0CA6-94EF-8DE797287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583BF0-A849-4F50-1480-C3E6DAC4C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A4CEE1-604D-70BF-D902-B061708BA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800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DD6DA-A741-5142-D729-9438A3A0D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CD9DAD-BE17-D65B-31F7-FB34E02926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AA520D-9A08-F74B-0429-9EEFB7D7A3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1F4972-7968-2995-2A23-322931D5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2CFAF7-ABF7-EA48-16FD-4AF5084E4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4E3C6C-F37E-058D-F2C9-1B363DAE7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895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8B530-14A5-1B3E-6143-397A18DFF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3FAC72-59F2-1429-6EFB-C9BB983444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3D347-C110-3EBE-15E2-59CAC7C0B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252D-851D-22FE-D08A-0019F3DE8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074DF-8E98-7C5E-7812-4FA2C1473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435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A14553-D4E3-5726-7FFE-F42DCF675D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5F11A0-B29F-A612-C730-A9E08B3445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6773A-6A95-8154-22A7-83B72CEE6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8132C-D2DF-C643-71FC-F48260C9F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0104A-0F81-5C34-936A-D79C4C12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950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5C4BDB-36C7-D629-3E15-24AEA47C4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73834-CECD-A0C3-673A-557E605D2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34643-8E74-B5BD-831F-4433C04133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BD36DA-D73A-7F4F-ACE9-ACC14D75FFB5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94C8C-9162-33B8-4A39-9CDEA685D1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500F2-E607-0AD2-CEDD-2580B1607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83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82CAA-E5A8-C607-EE26-9B69354C2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29F2A80-80C7-41A8-A0EC-46A75467FD62}"/>
              </a:ext>
            </a:extLst>
          </p:cNvPr>
          <p:cNvSpPr/>
          <p:nvPr/>
        </p:nvSpPr>
        <p:spPr>
          <a:xfrm>
            <a:off x="572877" y="1410159"/>
            <a:ext cx="11226188" cy="52660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9B3E8F-95DA-9D32-A8FC-D543103651FA}"/>
              </a:ext>
            </a:extLst>
          </p:cNvPr>
          <p:cNvSpPr/>
          <p:nvPr/>
        </p:nvSpPr>
        <p:spPr>
          <a:xfrm>
            <a:off x="572877" y="341523"/>
            <a:ext cx="11226188" cy="10686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74320" rtlCol="0" anchor="t"/>
          <a:lstStyle/>
          <a:p>
            <a:r>
              <a:rPr lang="en-US" dirty="0">
                <a:solidFill>
                  <a:schemeClr val="tx1"/>
                </a:solidFill>
              </a:rPr>
              <a:t>               Acme Analytics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1AB6ACA0-9EDD-2424-0934-24F396F1E39F}"/>
              </a:ext>
            </a:extLst>
          </p:cNvPr>
          <p:cNvSpPr/>
          <p:nvPr/>
        </p:nvSpPr>
        <p:spPr>
          <a:xfrm>
            <a:off x="705080" y="440675"/>
            <a:ext cx="506775" cy="550843"/>
          </a:xfrm>
          <a:prstGeom prst="diamond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FDCAAE-382E-8D80-68E5-6C2A4DC9E702}"/>
              </a:ext>
            </a:extLst>
          </p:cNvPr>
          <p:cNvSpPr txBox="1"/>
          <p:nvPr/>
        </p:nvSpPr>
        <p:spPr>
          <a:xfrm>
            <a:off x="705079" y="1016172"/>
            <a:ext cx="6698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about  | dashboards |  Q&amp;A with data | </a:t>
            </a:r>
            <a:r>
              <a:rPr lang="en-US" dirty="0">
                <a:solidFill>
                  <a:schemeClr val="accent4"/>
                </a:solidFill>
              </a:rPr>
              <a:t>chat about your data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F2764A-A3AA-5812-D59B-EFE7C50E328E}"/>
              </a:ext>
            </a:extLst>
          </p:cNvPr>
          <p:cNvSpPr txBox="1"/>
          <p:nvPr/>
        </p:nvSpPr>
        <p:spPr>
          <a:xfrm>
            <a:off x="4054205" y="6147145"/>
            <a:ext cx="731520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Type something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489EED-C283-32AE-1FDD-05A6A9E58BAA}"/>
              </a:ext>
            </a:extLst>
          </p:cNvPr>
          <p:cNvSpPr txBox="1"/>
          <p:nvPr/>
        </p:nvSpPr>
        <p:spPr>
          <a:xfrm>
            <a:off x="8780443" y="443830"/>
            <a:ext cx="283868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Dataset Name</a:t>
            </a:r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34824AB1-DEFE-E599-2D67-67540A17292E}"/>
              </a:ext>
            </a:extLst>
          </p:cNvPr>
          <p:cNvSpPr/>
          <p:nvPr/>
        </p:nvSpPr>
        <p:spPr>
          <a:xfrm rot="10800000">
            <a:off x="11208053" y="546055"/>
            <a:ext cx="302848" cy="188878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96BB78A-0AA1-0D8D-4363-610974C42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6696" y="6199216"/>
            <a:ext cx="301357" cy="273193"/>
          </a:xfrm>
          <a:prstGeom prst="rect">
            <a:avLst/>
          </a:prstGeom>
        </p:spPr>
      </p:pic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D76ED2D3-42A2-0A69-18B0-48C2159C55E0}"/>
              </a:ext>
            </a:extLst>
          </p:cNvPr>
          <p:cNvSpPr/>
          <p:nvPr/>
        </p:nvSpPr>
        <p:spPr>
          <a:xfrm>
            <a:off x="7083846" y="2032478"/>
            <a:ext cx="4124207" cy="594911"/>
          </a:xfrm>
          <a:prstGeom prst="wedgeRoundRectCallout">
            <a:avLst>
              <a:gd name="adj1" fmla="val 59314"/>
              <a:gd name="adj2" fmla="val -14212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User’s question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E66C0E-48CC-FF30-51E8-CB7A9ABDC741}"/>
              </a:ext>
            </a:extLst>
          </p:cNvPr>
          <p:cNvSpPr txBox="1"/>
          <p:nvPr/>
        </p:nvSpPr>
        <p:spPr>
          <a:xfrm>
            <a:off x="705079" y="2750470"/>
            <a:ext cx="4120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Agent’s 1</a:t>
            </a:r>
            <a:r>
              <a:rPr lang="en-US" baseline="30000" dirty="0"/>
              <a:t>st</a:t>
            </a:r>
            <a:r>
              <a:rPr lang="en-US" dirty="0"/>
              <a:t> response in natural language</a:t>
            </a:r>
          </a:p>
          <a:p>
            <a:r>
              <a:rPr lang="en-US" dirty="0"/>
              <a:t>plus charts and graphs</a:t>
            </a:r>
          </a:p>
        </p:txBody>
      </p:sp>
      <p:sp>
        <p:nvSpPr>
          <p:cNvPr id="15" name="Rounded Rectangular Callout 14">
            <a:extLst>
              <a:ext uri="{FF2B5EF4-FFF2-40B4-BE49-F238E27FC236}">
                <a16:creationId xmlns:a16="http://schemas.microsoft.com/office/drawing/2014/main" id="{6AB44CDC-1AA4-2883-6C98-1CA87DF0D3E5}"/>
              </a:ext>
            </a:extLst>
          </p:cNvPr>
          <p:cNvSpPr/>
          <p:nvPr/>
        </p:nvSpPr>
        <p:spPr>
          <a:xfrm>
            <a:off x="7083846" y="3712684"/>
            <a:ext cx="4124207" cy="594911"/>
          </a:xfrm>
          <a:prstGeom prst="wedgeRoundRectCallout">
            <a:avLst>
              <a:gd name="adj1" fmla="val 59314"/>
              <a:gd name="adj2" fmla="val -14212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User’s follow-up question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72A68A-E3D1-3878-9B1B-070098E84CF0}"/>
              </a:ext>
            </a:extLst>
          </p:cNvPr>
          <p:cNvSpPr txBox="1"/>
          <p:nvPr/>
        </p:nvSpPr>
        <p:spPr>
          <a:xfrm>
            <a:off x="1608462" y="5023689"/>
            <a:ext cx="4120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Please wait while the agent processes its response…</a:t>
            </a:r>
          </a:p>
        </p:txBody>
      </p:sp>
      <p:pic>
        <p:nvPicPr>
          <p:cNvPr id="1026" name="Picture 2" descr="Please Wait Notepad Icons - Free SVG &amp; PNG Please Wait ...">
            <a:extLst>
              <a:ext uri="{FF2B5EF4-FFF2-40B4-BE49-F238E27FC236}">
                <a16:creationId xmlns:a16="http://schemas.microsoft.com/office/drawing/2014/main" id="{B0535E65-BBF0-0E7C-783B-C298710FAD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536" y="4812537"/>
            <a:ext cx="1068637" cy="1068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D87CE00-9ED5-2CA4-C276-06E34616EFA6}"/>
              </a:ext>
            </a:extLst>
          </p:cNvPr>
          <p:cNvSpPr txBox="1"/>
          <p:nvPr/>
        </p:nvSpPr>
        <p:spPr>
          <a:xfrm>
            <a:off x="9827546" y="1719420"/>
            <a:ext cx="1380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latin typeface="IBM Plex Sans ExtLt" panose="020B0303050203000203" pitchFamily="34" charset="0"/>
              </a:rPr>
              <a:t>you @ 1:25 pm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D50FE9-0171-DCB8-6341-CD94689E526B}"/>
              </a:ext>
            </a:extLst>
          </p:cNvPr>
          <p:cNvSpPr txBox="1"/>
          <p:nvPr/>
        </p:nvSpPr>
        <p:spPr>
          <a:xfrm>
            <a:off x="9827546" y="3393983"/>
            <a:ext cx="1380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latin typeface="IBM Plex Sans ExtLt" panose="020B0303050203000203" pitchFamily="34" charset="0"/>
              </a:rPr>
              <a:t>you @ 1:30 pm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E30F04-FEE6-084E-171E-9AD3BE62B7B7}"/>
              </a:ext>
            </a:extLst>
          </p:cNvPr>
          <p:cNvSpPr txBox="1"/>
          <p:nvPr/>
        </p:nvSpPr>
        <p:spPr>
          <a:xfrm>
            <a:off x="705079" y="2419026"/>
            <a:ext cx="15408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IBM Plex Sans ExtLt" panose="020B0303050203000203" pitchFamily="34" charset="0"/>
              </a:rPr>
              <a:t>agent @ 1:27 pm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1D717A-42C8-5118-E41E-4DAF2C3382BD}"/>
              </a:ext>
            </a:extLst>
          </p:cNvPr>
          <p:cNvSpPr txBox="1"/>
          <p:nvPr/>
        </p:nvSpPr>
        <p:spPr>
          <a:xfrm>
            <a:off x="705079" y="4633416"/>
            <a:ext cx="15408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IBM Plex Sans ExtLt" panose="020B0303050203000203" pitchFamily="34" charset="0"/>
              </a:rPr>
              <a:t>agent @ 1:31 pm</a:t>
            </a:r>
          </a:p>
        </p:txBody>
      </p:sp>
    </p:spTree>
    <p:extLst>
      <p:ext uri="{BB962C8B-B14F-4D97-AF65-F5344CB8AC3E}">
        <p14:creationId xmlns:p14="http://schemas.microsoft.com/office/powerpoint/2010/main" val="3502522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B2421-4858-C9FB-094D-A63D1F653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8A020F-AFF8-EA0C-656D-85A5ED98738F}"/>
              </a:ext>
            </a:extLst>
          </p:cNvPr>
          <p:cNvSpPr/>
          <p:nvPr/>
        </p:nvSpPr>
        <p:spPr>
          <a:xfrm>
            <a:off x="572877" y="1410159"/>
            <a:ext cx="11226188" cy="52660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016A1F-4A14-87DB-82FC-32B422278E6C}"/>
              </a:ext>
            </a:extLst>
          </p:cNvPr>
          <p:cNvSpPr/>
          <p:nvPr/>
        </p:nvSpPr>
        <p:spPr>
          <a:xfrm>
            <a:off x="572877" y="341523"/>
            <a:ext cx="11226188" cy="10686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74320" rtlCol="0" anchor="t"/>
          <a:lstStyle/>
          <a:p>
            <a:r>
              <a:rPr lang="en-US" dirty="0">
                <a:solidFill>
                  <a:schemeClr val="tx1"/>
                </a:solidFill>
              </a:rPr>
              <a:t>               Acme Analytics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13E6F799-21BB-266B-BFB4-4FE8A6E653D4}"/>
              </a:ext>
            </a:extLst>
          </p:cNvPr>
          <p:cNvSpPr/>
          <p:nvPr/>
        </p:nvSpPr>
        <p:spPr>
          <a:xfrm>
            <a:off x="705080" y="440675"/>
            <a:ext cx="506775" cy="550843"/>
          </a:xfrm>
          <a:prstGeom prst="diamond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117577-07AE-279C-2E8B-DCD0E911511C}"/>
              </a:ext>
            </a:extLst>
          </p:cNvPr>
          <p:cNvSpPr txBox="1"/>
          <p:nvPr/>
        </p:nvSpPr>
        <p:spPr>
          <a:xfrm>
            <a:off x="705079" y="1016172"/>
            <a:ext cx="6698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about  | dashboards |  Q&amp;A with data | </a:t>
            </a:r>
            <a:r>
              <a:rPr lang="en-US" dirty="0">
                <a:solidFill>
                  <a:schemeClr val="accent4"/>
                </a:solidFill>
              </a:rPr>
              <a:t>chat about your data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4C5B3A-D4C2-5539-EB59-B205128C3D1D}"/>
              </a:ext>
            </a:extLst>
          </p:cNvPr>
          <p:cNvSpPr txBox="1"/>
          <p:nvPr/>
        </p:nvSpPr>
        <p:spPr>
          <a:xfrm>
            <a:off x="4054205" y="6147145"/>
            <a:ext cx="731520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Type something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FBD2D7-90D1-5DD3-EC59-ACBB7255743B}"/>
              </a:ext>
            </a:extLst>
          </p:cNvPr>
          <p:cNvSpPr txBox="1"/>
          <p:nvPr/>
        </p:nvSpPr>
        <p:spPr>
          <a:xfrm>
            <a:off x="8780443" y="443830"/>
            <a:ext cx="283868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Dataset Name</a:t>
            </a:r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B69D0E3E-5DFE-C07B-0735-DB5AFBA801B8}"/>
              </a:ext>
            </a:extLst>
          </p:cNvPr>
          <p:cNvSpPr/>
          <p:nvPr/>
        </p:nvSpPr>
        <p:spPr>
          <a:xfrm rot="10800000">
            <a:off x="11208053" y="546055"/>
            <a:ext cx="302848" cy="188878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8C46AC2-061E-8846-6DD9-15ACAF3FF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6696" y="6199216"/>
            <a:ext cx="301357" cy="273193"/>
          </a:xfrm>
          <a:prstGeom prst="rect">
            <a:avLst/>
          </a:prstGeom>
        </p:spPr>
      </p:pic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9B139D64-9305-3C6B-8496-236D2472833E}"/>
              </a:ext>
            </a:extLst>
          </p:cNvPr>
          <p:cNvSpPr/>
          <p:nvPr/>
        </p:nvSpPr>
        <p:spPr>
          <a:xfrm>
            <a:off x="7083846" y="2032478"/>
            <a:ext cx="4124207" cy="594911"/>
          </a:xfrm>
          <a:prstGeom prst="wedgeRoundRectCallout">
            <a:avLst>
              <a:gd name="adj1" fmla="val 59314"/>
              <a:gd name="adj2" fmla="val -14212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User’s question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487C97-D229-4A55-0CFB-47171FC5AC9C}"/>
              </a:ext>
            </a:extLst>
          </p:cNvPr>
          <p:cNvSpPr txBox="1"/>
          <p:nvPr/>
        </p:nvSpPr>
        <p:spPr>
          <a:xfrm>
            <a:off x="705079" y="2750470"/>
            <a:ext cx="4120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Agent’s 1</a:t>
            </a:r>
            <a:r>
              <a:rPr lang="en-US" baseline="30000" dirty="0"/>
              <a:t>st</a:t>
            </a:r>
            <a:r>
              <a:rPr lang="en-US" dirty="0"/>
              <a:t> response in natural language</a:t>
            </a:r>
          </a:p>
          <a:p>
            <a:r>
              <a:rPr lang="en-US" dirty="0"/>
              <a:t>plus charts and graphs</a:t>
            </a:r>
          </a:p>
        </p:txBody>
      </p:sp>
      <p:sp>
        <p:nvSpPr>
          <p:cNvPr id="15" name="Rounded Rectangular Callout 14">
            <a:extLst>
              <a:ext uri="{FF2B5EF4-FFF2-40B4-BE49-F238E27FC236}">
                <a16:creationId xmlns:a16="http://schemas.microsoft.com/office/drawing/2014/main" id="{450BE0DE-D9F2-8006-1964-E5CF6E11613C}"/>
              </a:ext>
            </a:extLst>
          </p:cNvPr>
          <p:cNvSpPr/>
          <p:nvPr/>
        </p:nvSpPr>
        <p:spPr>
          <a:xfrm>
            <a:off x="7083846" y="3712684"/>
            <a:ext cx="4124207" cy="594911"/>
          </a:xfrm>
          <a:prstGeom prst="wedgeRoundRectCallout">
            <a:avLst>
              <a:gd name="adj1" fmla="val 59314"/>
              <a:gd name="adj2" fmla="val -14212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User’s follow-up question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C83890-CFF0-0127-CAE7-A5CC71ECB19E}"/>
              </a:ext>
            </a:extLst>
          </p:cNvPr>
          <p:cNvSpPr txBox="1"/>
          <p:nvPr/>
        </p:nvSpPr>
        <p:spPr>
          <a:xfrm>
            <a:off x="1608462" y="5023689"/>
            <a:ext cx="4120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Please wait while the agent processes its response…</a:t>
            </a:r>
          </a:p>
        </p:txBody>
      </p:sp>
      <p:pic>
        <p:nvPicPr>
          <p:cNvPr id="1026" name="Picture 2" descr="Please Wait Notepad Icons - Free SVG &amp; PNG Please Wait ...">
            <a:extLst>
              <a:ext uri="{FF2B5EF4-FFF2-40B4-BE49-F238E27FC236}">
                <a16:creationId xmlns:a16="http://schemas.microsoft.com/office/drawing/2014/main" id="{1F0B66C9-848D-C497-4788-51F444DE3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536" y="4812537"/>
            <a:ext cx="1068637" cy="1068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490C1E1-AAC0-4FAB-2E14-D1366A150E4A}"/>
              </a:ext>
            </a:extLst>
          </p:cNvPr>
          <p:cNvSpPr txBox="1"/>
          <p:nvPr/>
        </p:nvSpPr>
        <p:spPr>
          <a:xfrm>
            <a:off x="9827546" y="1719420"/>
            <a:ext cx="1380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latin typeface="IBM Plex Sans ExtLt" panose="020B0303050203000203" pitchFamily="34" charset="0"/>
              </a:rPr>
              <a:t>you @ 1:25 pm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E90ABA-787A-C414-CA83-A3F5DFEDC398}"/>
              </a:ext>
            </a:extLst>
          </p:cNvPr>
          <p:cNvSpPr txBox="1"/>
          <p:nvPr/>
        </p:nvSpPr>
        <p:spPr>
          <a:xfrm>
            <a:off x="9827546" y="3393983"/>
            <a:ext cx="1380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latin typeface="IBM Plex Sans ExtLt" panose="020B0303050203000203" pitchFamily="34" charset="0"/>
              </a:rPr>
              <a:t>you @ 1:30 pm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760B5D-24AC-5796-52F7-C99F8A51F39D}"/>
              </a:ext>
            </a:extLst>
          </p:cNvPr>
          <p:cNvSpPr txBox="1"/>
          <p:nvPr/>
        </p:nvSpPr>
        <p:spPr>
          <a:xfrm>
            <a:off x="705079" y="2419026"/>
            <a:ext cx="35477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IBM Plex Sans ExtLt" panose="020B0303050203000203" pitchFamily="34" charset="0"/>
              </a:rPr>
              <a:t>agent @ 1:27 pm </a:t>
            </a:r>
            <a:r>
              <a:rPr lang="en-US" sz="1400" dirty="0">
                <a:solidFill>
                  <a:schemeClr val="accent4"/>
                </a:solidFill>
                <a:latin typeface="IBM Plex Sans ExtLt" panose="020B0303050203000203" pitchFamily="34" charset="0"/>
              </a:rPr>
              <a:t>| Show agent’s reasoning</a:t>
            </a:r>
          </a:p>
        </p:txBody>
      </p:sp>
      <p:sp>
        <p:nvSpPr>
          <p:cNvPr id="22" name="Triangle 21">
            <a:extLst>
              <a:ext uri="{FF2B5EF4-FFF2-40B4-BE49-F238E27FC236}">
                <a16:creationId xmlns:a16="http://schemas.microsoft.com/office/drawing/2014/main" id="{4EE34717-29F6-6F07-1F4D-C2CCB69996C6}"/>
              </a:ext>
            </a:extLst>
          </p:cNvPr>
          <p:cNvSpPr/>
          <p:nvPr/>
        </p:nvSpPr>
        <p:spPr>
          <a:xfrm rot="10800000">
            <a:off x="4142674" y="2500829"/>
            <a:ext cx="171069" cy="139054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61C774-3699-BED4-5EF2-4A6D00297B7B}"/>
              </a:ext>
            </a:extLst>
          </p:cNvPr>
          <p:cNvSpPr txBox="1"/>
          <p:nvPr/>
        </p:nvSpPr>
        <p:spPr>
          <a:xfrm>
            <a:off x="705079" y="4633416"/>
            <a:ext cx="35253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IBM Plex Sans ExtLt" panose="020B0303050203000203" pitchFamily="34" charset="0"/>
              </a:rPr>
              <a:t>agent @ 1:31 pm</a:t>
            </a:r>
            <a:r>
              <a:rPr lang="en-US" sz="1400" dirty="0">
                <a:solidFill>
                  <a:schemeClr val="accent4"/>
                </a:solidFill>
                <a:latin typeface="IBM Plex Sans ExtLt" panose="020B0303050203000203" pitchFamily="34" charset="0"/>
              </a:rPr>
              <a:t> | Show agent’s reasoning</a:t>
            </a:r>
          </a:p>
        </p:txBody>
      </p:sp>
      <p:sp>
        <p:nvSpPr>
          <p:cNvPr id="24" name="Triangle 23">
            <a:extLst>
              <a:ext uri="{FF2B5EF4-FFF2-40B4-BE49-F238E27FC236}">
                <a16:creationId xmlns:a16="http://schemas.microsoft.com/office/drawing/2014/main" id="{4CB73EF4-0D42-6A53-BB08-34663E775688}"/>
              </a:ext>
            </a:extLst>
          </p:cNvPr>
          <p:cNvSpPr/>
          <p:nvPr/>
        </p:nvSpPr>
        <p:spPr>
          <a:xfrm rot="10800000">
            <a:off x="4142674" y="4726236"/>
            <a:ext cx="171069" cy="139054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42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61B71-56AD-AF0A-F56E-A246A091D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B63160-57A5-D0FB-FEEE-AB91026300E4}"/>
              </a:ext>
            </a:extLst>
          </p:cNvPr>
          <p:cNvSpPr/>
          <p:nvPr/>
        </p:nvSpPr>
        <p:spPr>
          <a:xfrm>
            <a:off x="572877" y="1410159"/>
            <a:ext cx="11226188" cy="52660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D21E25-732F-AFD2-0B45-1DA2104A2729}"/>
              </a:ext>
            </a:extLst>
          </p:cNvPr>
          <p:cNvSpPr/>
          <p:nvPr/>
        </p:nvSpPr>
        <p:spPr>
          <a:xfrm>
            <a:off x="572877" y="341523"/>
            <a:ext cx="11226188" cy="10686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74320" rtlCol="0" anchor="t"/>
          <a:lstStyle/>
          <a:p>
            <a:r>
              <a:rPr lang="en-US" dirty="0">
                <a:solidFill>
                  <a:schemeClr val="tx1"/>
                </a:solidFill>
              </a:rPr>
              <a:t>               Acme Analytics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BA8291C2-C8F3-C20C-75E6-EA5C693EC01D}"/>
              </a:ext>
            </a:extLst>
          </p:cNvPr>
          <p:cNvSpPr/>
          <p:nvPr/>
        </p:nvSpPr>
        <p:spPr>
          <a:xfrm>
            <a:off x="705080" y="440675"/>
            <a:ext cx="506775" cy="550843"/>
          </a:xfrm>
          <a:prstGeom prst="diamond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ACEB5A-EFA3-3189-D4AE-696104F119A1}"/>
              </a:ext>
            </a:extLst>
          </p:cNvPr>
          <p:cNvSpPr txBox="1"/>
          <p:nvPr/>
        </p:nvSpPr>
        <p:spPr>
          <a:xfrm>
            <a:off x="705079" y="1016172"/>
            <a:ext cx="6698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about  | dashboards |  Q&amp;A with data | </a:t>
            </a:r>
            <a:r>
              <a:rPr lang="en-US" dirty="0">
                <a:solidFill>
                  <a:schemeClr val="accent4"/>
                </a:solidFill>
              </a:rPr>
              <a:t>chat about your data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A6ACF1-D898-36D6-94D3-8F0D167A3E82}"/>
              </a:ext>
            </a:extLst>
          </p:cNvPr>
          <p:cNvSpPr txBox="1"/>
          <p:nvPr/>
        </p:nvSpPr>
        <p:spPr>
          <a:xfrm>
            <a:off x="4054205" y="6147145"/>
            <a:ext cx="731520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Type something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67DDB5-83BA-A9D7-3B8C-539214855A04}"/>
              </a:ext>
            </a:extLst>
          </p:cNvPr>
          <p:cNvSpPr txBox="1"/>
          <p:nvPr/>
        </p:nvSpPr>
        <p:spPr>
          <a:xfrm>
            <a:off x="8780443" y="443830"/>
            <a:ext cx="283868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Dataset Name</a:t>
            </a:r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0164C8D1-1224-9F86-1285-8374989A1A8D}"/>
              </a:ext>
            </a:extLst>
          </p:cNvPr>
          <p:cNvSpPr/>
          <p:nvPr/>
        </p:nvSpPr>
        <p:spPr>
          <a:xfrm rot="10800000">
            <a:off x="11208053" y="546055"/>
            <a:ext cx="302848" cy="188878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DCA5A51-4018-3AE2-6196-2C531CFB3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6696" y="6199216"/>
            <a:ext cx="301357" cy="273193"/>
          </a:xfrm>
          <a:prstGeom prst="rect">
            <a:avLst/>
          </a:prstGeom>
        </p:spPr>
      </p:pic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ADD4E18E-8302-060C-7164-225F714931A0}"/>
              </a:ext>
            </a:extLst>
          </p:cNvPr>
          <p:cNvSpPr/>
          <p:nvPr/>
        </p:nvSpPr>
        <p:spPr>
          <a:xfrm>
            <a:off x="7083846" y="1779088"/>
            <a:ext cx="4124207" cy="594911"/>
          </a:xfrm>
          <a:prstGeom prst="wedgeRoundRectCallout">
            <a:avLst>
              <a:gd name="adj1" fmla="val 59314"/>
              <a:gd name="adj2" fmla="val -14212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User’s question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046497-0EE7-407A-AFB4-1D1EBBFB18D7}"/>
              </a:ext>
            </a:extLst>
          </p:cNvPr>
          <p:cNvSpPr txBox="1"/>
          <p:nvPr/>
        </p:nvSpPr>
        <p:spPr>
          <a:xfrm>
            <a:off x="705079" y="3668896"/>
            <a:ext cx="4120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Agent’s 1</a:t>
            </a:r>
            <a:r>
              <a:rPr lang="en-US" baseline="30000" dirty="0"/>
              <a:t>st</a:t>
            </a:r>
            <a:r>
              <a:rPr lang="en-US" dirty="0"/>
              <a:t> response in natural language</a:t>
            </a:r>
          </a:p>
          <a:p>
            <a:r>
              <a:rPr lang="en-US" dirty="0"/>
              <a:t>plus charts and graphs</a:t>
            </a:r>
          </a:p>
        </p:txBody>
      </p:sp>
      <p:sp>
        <p:nvSpPr>
          <p:cNvPr id="15" name="Rounded Rectangular Callout 14">
            <a:extLst>
              <a:ext uri="{FF2B5EF4-FFF2-40B4-BE49-F238E27FC236}">
                <a16:creationId xmlns:a16="http://schemas.microsoft.com/office/drawing/2014/main" id="{277CA6D0-263C-A607-8C01-1850F7E2E3B0}"/>
              </a:ext>
            </a:extLst>
          </p:cNvPr>
          <p:cNvSpPr/>
          <p:nvPr/>
        </p:nvSpPr>
        <p:spPr>
          <a:xfrm>
            <a:off x="7083846" y="4315295"/>
            <a:ext cx="4124207" cy="594911"/>
          </a:xfrm>
          <a:prstGeom prst="wedgeRoundRectCallout">
            <a:avLst>
              <a:gd name="adj1" fmla="val 59314"/>
              <a:gd name="adj2" fmla="val -14212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User’s follow-up question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3F711F-1810-FBBF-F043-E49F00195389}"/>
              </a:ext>
            </a:extLst>
          </p:cNvPr>
          <p:cNvSpPr txBox="1"/>
          <p:nvPr/>
        </p:nvSpPr>
        <p:spPr>
          <a:xfrm>
            <a:off x="9827546" y="1466030"/>
            <a:ext cx="1380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latin typeface="IBM Plex Sans ExtLt" panose="020B0303050203000203" pitchFamily="34" charset="0"/>
              </a:rPr>
              <a:t>you @ 1:25 pm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12DD1E-C552-FD1F-D390-52544FDE1F3C}"/>
              </a:ext>
            </a:extLst>
          </p:cNvPr>
          <p:cNvSpPr txBox="1"/>
          <p:nvPr/>
        </p:nvSpPr>
        <p:spPr>
          <a:xfrm>
            <a:off x="9827546" y="3996594"/>
            <a:ext cx="1380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latin typeface="IBM Plex Sans ExtLt" panose="020B0303050203000203" pitchFamily="34" charset="0"/>
              </a:rPr>
              <a:t>you @ 1:30 pm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DED31F-B3EA-2616-51B2-AF0BE6534DAA}"/>
              </a:ext>
            </a:extLst>
          </p:cNvPr>
          <p:cNvSpPr txBox="1"/>
          <p:nvPr/>
        </p:nvSpPr>
        <p:spPr>
          <a:xfrm>
            <a:off x="705079" y="2165636"/>
            <a:ext cx="34612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IBM Plex Sans ExtLt" panose="020B0303050203000203" pitchFamily="34" charset="0"/>
              </a:rPr>
              <a:t>agent @ 1:27 pm </a:t>
            </a:r>
            <a:r>
              <a:rPr lang="en-US" sz="1400" dirty="0">
                <a:solidFill>
                  <a:schemeClr val="accent4"/>
                </a:solidFill>
                <a:latin typeface="IBM Plex Sans ExtLt" panose="020B0303050203000203" pitchFamily="34" charset="0"/>
              </a:rPr>
              <a:t>| Hide agent’s reasoning</a:t>
            </a:r>
          </a:p>
        </p:txBody>
      </p:sp>
      <p:sp>
        <p:nvSpPr>
          <p:cNvPr id="22" name="Triangle 21">
            <a:extLst>
              <a:ext uri="{FF2B5EF4-FFF2-40B4-BE49-F238E27FC236}">
                <a16:creationId xmlns:a16="http://schemas.microsoft.com/office/drawing/2014/main" id="{FF8CB2DD-3CB0-DEF4-1888-197E5A6CA3C1}"/>
              </a:ext>
            </a:extLst>
          </p:cNvPr>
          <p:cNvSpPr/>
          <p:nvPr/>
        </p:nvSpPr>
        <p:spPr>
          <a:xfrm>
            <a:off x="4142674" y="2247439"/>
            <a:ext cx="171069" cy="139054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7FD1F2-F809-85E8-7B31-D429F45912B2}"/>
              </a:ext>
            </a:extLst>
          </p:cNvPr>
          <p:cNvSpPr txBox="1"/>
          <p:nvPr/>
        </p:nvSpPr>
        <p:spPr>
          <a:xfrm>
            <a:off x="1079653" y="2608760"/>
            <a:ext cx="377878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accent4"/>
                </a:solidFill>
                <a:latin typeface="IBM Plex Sans ExtLt" panose="020B0303050203000203" pitchFamily="34" charset="0"/>
              </a:rPr>
              <a:t>Step 1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accent4"/>
                </a:solidFill>
                <a:latin typeface="IBM Plex Sans ExtLt" panose="020B0303050203000203" pitchFamily="34" charset="0"/>
              </a:rPr>
              <a:t>Step 2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accent4"/>
                </a:solidFill>
                <a:latin typeface="IBM Plex Sans ExtLt" panose="020B0303050203000203" pitchFamily="34" charset="0"/>
              </a:rPr>
              <a:t>Step 3</a:t>
            </a:r>
          </a:p>
        </p:txBody>
      </p:sp>
      <p:sp>
        <p:nvSpPr>
          <p:cNvPr id="10" name="Triangle 9">
            <a:extLst>
              <a:ext uri="{FF2B5EF4-FFF2-40B4-BE49-F238E27FC236}">
                <a16:creationId xmlns:a16="http://schemas.microsoft.com/office/drawing/2014/main" id="{7577DF1C-BFCE-87EB-8822-1658FE3A867F}"/>
              </a:ext>
            </a:extLst>
          </p:cNvPr>
          <p:cNvSpPr/>
          <p:nvPr/>
        </p:nvSpPr>
        <p:spPr>
          <a:xfrm rot="10800000">
            <a:off x="908584" y="2695680"/>
            <a:ext cx="171069" cy="139054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CBA69871-7994-9D13-A6D5-F0F5EF787368}"/>
              </a:ext>
            </a:extLst>
          </p:cNvPr>
          <p:cNvSpPr/>
          <p:nvPr/>
        </p:nvSpPr>
        <p:spPr>
          <a:xfrm rot="10800000">
            <a:off x="917763" y="3002318"/>
            <a:ext cx="171069" cy="139054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FB249469-8CFF-9510-F29D-9D36A8F65ED8}"/>
              </a:ext>
            </a:extLst>
          </p:cNvPr>
          <p:cNvSpPr/>
          <p:nvPr/>
        </p:nvSpPr>
        <p:spPr>
          <a:xfrm rot="10800000">
            <a:off x="915925" y="3297939"/>
            <a:ext cx="171069" cy="139054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B2F13F-0AD1-A74F-D5FC-ED7517B566C4}"/>
              </a:ext>
            </a:extLst>
          </p:cNvPr>
          <p:cNvSpPr txBox="1"/>
          <p:nvPr/>
        </p:nvSpPr>
        <p:spPr>
          <a:xfrm>
            <a:off x="1636005" y="5310809"/>
            <a:ext cx="4120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Please wait while the agent processes its response…</a:t>
            </a:r>
          </a:p>
        </p:txBody>
      </p:sp>
      <p:pic>
        <p:nvPicPr>
          <p:cNvPr id="25" name="Picture 2" descr="Please Wait Notepad Icons - Free SVG &amp; PNG Please Wait ...">
            <a:extLst>
              <a:ext uri="{FF2B5EF4-FFF2-40B4-BE49-F238E27FC236}">
                <a16:creationId xmlns:a16="http://schemas.microsoft.com/office/drawing/2014/main" id="{41DD67B2-06BE-8845-FFFC-2066F45E6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079" y="5099657"/>
            <a:ext cx="1068637" cy="1068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7682D0D-E7D8-C1EA-C45B-23E3673406B7}"/>
              </a:ext>
            </a:extLst>
          </p:cNvPr>
          <p:cNvSpPr txBox="1"/>
          <p:nvPr/>
        </p:nvSpPr>
        <p:spPr>
          <a:xfrm>
            <a:off x="732622" y="4920536"/>
            <a:ext cx="35253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IBM Plex Sans ExtLt" panose="020B0303050203000203" pitchFamily="34" charset="0"/>
              </a:rPr>
              <a:t>agent @ 1:31 pm</a:t>
            </a:r>
            <a:r>
              <a:rPr lang="en-US" sz="1400" dirty="0">
                <a:solidFill>
                  <a:schemeClr val="accent4"/>
                </a:solidFill>
                <a:latin typeface="IBM Plex Sans ExtLt" panose="020B0303050203000203" pitchFamily="34" charset="0"/>
              </a:rPr>
              <a:t> | Show agent’s reasoning</a:t>
            </a:r>
          </a:p>
        </p:txBody>
      </p:sp>
      <p:sp>
        <p:nvSpPr>
          <p:cNvPr id="27" name="Triangle 26">
            <a:extLst>
              <a:ext uri="{FF2B5EF4-FFF2-40B4-BE49-F238E27FC236}">
                <a16:creationId xmlns:a16="http://schemas.microsoft.com/office/drawing/2014/main" id="{7E2DBCA6-9C95-C39C-75FC-2145E80C7DF6}"/>
              </a:ext>
            </a:extLst>
          </p:cNvPr>
          <p:cNvSpPr/>
          <p:nvPr/>
        </p:nvSpPr>
        <p:spPr>
          <a:xfrm rot="10800000">
            <a:off x="4170217" y="5013356"/>
            <a:ext cx="171069" cy="139054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260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1207</TotalTime>
  <Words>205</Words>
  <Application>Microsoft Macintosh PowerPoint</Application>
  <PresentationFormat>Widescreen</PresentationFormat>
  <Paragraphs>42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IBM Plex Sans ExtLt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ANTHONY STEVENS</dc:creator>
  <cp:lastModifiedBy>ANTHONY STEVENS</cp:lastModifiedBy>
  <cp:revision>9</cp:revision>
  <dcterms:created xsi:type="dcterms:W3CDTF">2026-03-15T20:24:17Z</dcterms:created>
  <dcterms:modified xsi:type="dcterms:W3CDTF">2026-03-28T12:47:27Z</dcterms:modified>
</cp:coreProperties>
</file>